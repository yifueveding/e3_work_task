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560"/>
    <p:restoredTop sz="94653"/>
  </p:normalViewPr>
  <p:slideViewPr>
    <p:cSldViewPr snapToGrid="0" snapToObjects="1">
      <p:cViewPr>
        <p:scale>
          <a:sx n="164" d="100"/>
          <a:sy n="164" d="100"/>
        </p:scale>
        <p:origin x="-296" y="4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10515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200" b="1" i="0">
                <a:solidFill>
                  <a:srgbClr val="FFFFFF"/>
                </a:solidFill>
                <a:latin typeface="Calibri"/>
              </a:rPr>
              <a:t>GCV Solar + Storage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4612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C3C2B7"/>
                </a:solidFill>
                <a:latin typeface="Calibri"/>
              </a:rPr>
              <a:t>NYISO N.Y.C. Zone  |  2023 Backcast Revenue Analysis &amp; Investment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886200"/>
            <a:ext cx="82296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6144768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Prepared for Green Charge Ventures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97135" y="6144768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Combined solar + storage is the recommended installation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2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2514600" cy="123444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2240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Calibri"/>
              </a:rPr>
              <a:t>$33.94/MWh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94560"/>
            <a:ext cx="2240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2023 avg. NYISO N.Y.C.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day-ahead price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1463040"/>
            <a:ext cx="2514600" cy="123444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83280" y="1600200"/>
            <a:ext cx="2240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Calibri"/>
              </a:rPr>
              <a:t>$18.8M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194560"/>
            <a:ext cx="2240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Standalone solar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2023 backcast revenue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89320" y="1463040"/>
            <a:ext cx="2514600" cy="123444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26480" y="1600200"/>
            <a:ext cx="2240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Calibri"/>
              </a:rPr>
              <a:t>$1.7M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194560"/>
            <a:ext cx="2240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Standalone storage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2023 backcast revenue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32520" y="1463040"/>
            <a:ext cx="2514600" cy="123444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869680" y="1600200"/>
            <a:ext cx="2240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Calibri"/>
              </a:rPr>
              <a:t>$20.5M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194560"/>
            <a:ext cx="2240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Combined system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2023 backcast revenue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063240"/>
            <a:ext cx="548640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Prices peak in winter (Feb, cold-snap heating demand) and again in summer (Jul, A/C peak); shoulder months (spring/fall) trough well below average.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Solar earns slightly above the flat average because its output aligns with summer peak-price hours; it earns below average in winter.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Storage value tracks price volatility, not price level — Jul and Feb (largest daily price swings) are its best months.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Pairing solar + storage adds only a marginal energy-arbitrage benefit today (+0.04%) since inverter clipping is minimal, but the combined package's cheaper per-unit equipment pricing saves ~$35M in capex vs. building both standalone.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063240"/>
            <a:ext cx="5440680" cy="3246120"/>
          </a:xfrm>
          <a:prstGeom prst="rect">
            <a:avLst/>
          </a:prstGeom>
          <a:solidFill>
            <a:srgbClr val="FCFCFB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92240" y="324612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A78D6"/>
                </a:solidFill>
                <a:latin typeface="Calibri"/>
              </a:rPr>
              <a:t>RECOMMENDATION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566160"/>
            <a:ext cx="49377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0B0B0B"/>
                </a:solidFill>
                <a:latin typeface="Calibri"/>
              </a:rPr>
              <a:t>Combined Solar + Storage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60520"/>
            <a:ext cx="493776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52514E"/>
                </a:solidFill>
                <a:latin typeface="Calibri"/>
              </a:rPr>
              <a:t>—  ~22-year simple payback — matches standalone solar, so storage is effectively "added for free" from a payback standpoint.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52514E"/>
                </a:solidFill>
                <a:latin typeface="Calibri"/>
              </a:rPr>
              <a:t>—  ~$35M cheaper in capex than building solar and storage as two separate standalone projects.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52514E"/>
                </a:solidFill>
                <a:latin typeface="Calibri"/>
              </a:rPr>
              <a:t>—  Better hedges the coming decade: storage's value should rise as solar buildout erodes solar's own capture price.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Q1A  ·  HISTORICAL PRICES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2023 Monthly Average Day-Ahead Energy Price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3 / 10</a:t>
            </a:r>
          </a:p>
        </p:txBody>
      </p:sp>
      <p:pic>
        <p:nvPicPr>
          <p:cNvPr id="8" name="Picture 7" descr="monthly_da_price_2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84680"/>
            <a:ext cx="7040880" cy="391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35240" y="1554480"/>
            <a:ext cx="411480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Annual average: $33.94/MWh.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Winter peak: Feb ($51.84) and Jan ($42.77) — cold-snap driven heating &amp; gas demand.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Summer peak: Jul ($41.72) — A/C-driven peak demand.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Shoulder-month trough: Apr–Jun &amp; Aug–Oct sit near $25–30/MWh, when heating and cooling demand are both low.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This "winter + summer peak, shoulder trough" shape drives which hours are most valuable for solar vs. storage (next slide).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Q1B &amp; Q1C  ·  SEASONAL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Solar and Storage Peak in Different — and Overlapping — Months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4 / 10</a:t>
            </a:r>
          </a:p>
        </p:txBody>
      </p:sp>
      <p:pic>
        <p:nvPicPr>
          <p:cNvPr id="8" name="Picture 7" descr="solar_value_by_mon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80606"/>
            <a:ext cx="5532120" cy="3028107"/>
          </a:xfrm>
          <a:prstGeom prst="rect">
            <a:avLst/>
          </a:prstGeom>
        </p:spPr>
      </p:pic>
      <p:pic>
        <p:nvPicPr>
          <p:cNvPr id="9" name="Picture 8" descr="storage_value_by_mon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457960"/>
            <a:ext cx="5532120" cy="307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4709160"/>
            <a:ext cx="5532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Solar: most valuable May–Sep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074920"/>
            <a:ext cx="553212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Summer capture price runs 8–17% above the flat average (Jul: $48.89 vs. $41.72) — solar hours line up with A/C-driven peak prices.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Winter capture price runs below flat average (95–99%) — winter price spikes hit before sunrise / after sunset, which solar misses.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709160"/>
            <a:ext cx="5532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EB6834"/>
                </a:solidFill>
                <a:latin typeface="Calibri"/>
              </a:rPr>
              <a:t>Storage: most valuable in extreme-weather months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5074920"/>
            <a:ext cx="553212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Jul ($50/MWh avg. daily spread) and Feb ($43/MWh) are far above the $29 annual average — driven by sharp heat-wave / cold-snap price spikes.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Shoulder months (Mar–Jun, Aug–Dec) are weakest ($21–30) — mild weather means flatter daily price shapes and less arbitrage opportunity.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Q2  · 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Revenue Modeling Approach &amp; Key Assumptions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5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1115568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1" dirty="0">
                <a:solidFill>
                  <a:srgbClr val="52514E"/>
                </a:solidFill>
                <a:latin typeface="Calibri"/>
              </a:rPr>
              <a:t>Price basis: </a:t>
            </a:r>
            <a:r>
              <a:rPr sz="1400" b="0" i="1" dirty="0">
                <a:solidFill>
                  <a:srgbClr val="52514E"/>
                </a:solidFill>
                <a:highlight>
                  <a:srgbClr val="FFFF00"/>
                </a:highlight>
                <a:latin typeface="Calibri"/>
              </a:rPr>
              <a:t>Day-Ahead (DA) prices used throughout — the standard settlement mechanism for a utility-scale resource's bulk energy position.</a:t>
            </a:r>
            <a:r>
              <a:rPr lang="en-US" sz="1400" b="0" i="1" dirty="0">
                <a:solidFill>
                  <a:srgbClr val="52514E"/>
                </a:solidFill>
                <a:highlight>
                  <a:srgbClr val="FFFF00"/>
                </a:highlight>
                <a:latin typeface="Calibri"/>
              </a:rPr>
              <a:t>  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sz="1400" b="0" i="1" u="sng" dirty="0">
                <a:solidFill>
                  <a:srgbClr val="52514E"/>
                </a:solidFill>
                <a:highlight>
                  <a:srgbClr val="FFFF00"/>
                </a:highlight>
                <a:latin typeface="Calibri"/>
              </a:rPr>
              <a:t>Using real-time price because we evaluate the economic value of three different configurations.</a:t>
            </a:r>
            <a:endParaRPr sz="1400" b="0" i="1" u="sng" dirty="0">
              <a:solidFill>
                <a:srgbClr val="52514E"/>
              </a:solidFill>
              <a:highlight>
                <a:srgbClr val="FFFF00"/>
              </a:highlight>
              <a:latin typeface="Calibr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02920" y="1965960"/>
            <a:ext cx="11201400" cy="254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210312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A78D6"/>
                </a:solidFill>
                <a:latin typeface="Calibri"/>
              </a:rPr>
              <a:t>Standalone Solar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103120"/>
            <a:ext cx="8549640" cy="6766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 dirty="0">
                <a:solidFill>
                  <a:srgbClr val="52514E"/>
                </a:solidFill>
                <a:latin typeface="Calibri"/>
              </a:rPr>
              <a:t>Delivered output = min(Solar Shape × 300 MW-DC, 250 MW-AC inverter limit). Revenue = </a:t>
            </a:r>
            <a:r>
              <a:rPr sz="1300" b="0" i="0" dirty="0" err="1">
                <a:solidFill>
                  <a:srgbClr val="52514E"/>
                </a:solidFill>
                <a:latin typeface="Calibri"/>
              </a:rPr>
              <a:t>Σ</a:t>
            </a:r>
            <a:r>
              <a:rPr sz="1300" b="0" i="0" dirty="0">
                <a:solidFill>
                  <a:srgbClr val="52514E"/>
                </a:solidFill>
                <a:latin typeface="Calibri"/>
              </a:rPr>
              <a:t>(delivered MW × </a:t>
            </a:r>
            <a:r>
              <a:rPr sz="1300" b="0" i="0" dirty="0">
                <a:solidFill>
                  <a:srgbClr val="52514E"/>
                </a:solidFill>
                <a:highlight>
                  <a:srgbClr val="FFFF00"/>
                </a:highlight>
                <a:latin typeface="Calibri"/>
              </a:rPr>
              <a:t>DA price</a:t>
            </a:r>
            <a:r>
              <a:rPr sz="1300" b="0" i="0" dirty="0">
                <a:solidFill>
                  <a:srgbClr val="52514E"/>
                </a:solidFill>
                <a:latin typeface="Calibri"/>
              </a:rPr>
              <a:t>).</a:t>
            </a:r>
            <a:r>
              <a:rPr lang="en-US" sz="1300" b="0" i="0" dirty="0">
                <a:solidFill>
                  <a:srgbClr val="52514E"/>
                </a:solidFill>
                <a:latin typeface="Calibri"/>
              </a:rPr>
              <a:t> RT price</a:t>
            </a:r>
          </a:p>
          <a:p>
            <a:pPr marL="285750" indent="-2857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/>
              </a:rPr>
              <a:t>Foot-room (additional revenue)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endParaRPr lang="en-US" sz="1300" dirty="0">
              <a:solidFill>
                <a:srgbClr val="52514E"/>
              </a:solidFill>
              <a:latin typeface="Calibr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02920" y="3200400"/>
            <a:ext cx="11201400" cy="127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333756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A78D6"/>
                </a:solidFill>
                <a:latin typeface="Calibri"/>
              </a:rPr>
              <a:t>Standalone Storage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3337560"/>
            <a:ext cx="8549640" cy="11367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 dirty="0">
                <a:solidFill>
                  <a:srgbClr val="52514E"/>
                </a:solidFill>
                <a:latin typeface="Calibri"/>
              </a:rPr>
              <a:t>4-hr duration (200 MWh ÷ 50 MW). 1 full cycle/day: charge the day's 4 lowest-price hours, discharge the 4 highest-price hours. Perfect </a:t>
            </a:r>
            <a:r>
              <a:rPr lang="en-US" sz="1300" b="0" i="0" dirty="0">
                <a:solidFill>
                  <a:srgbClr val="52514E"/>
                </a:solidFill>
                <a:highlight>
                  <a:srgbClr val="FFFF00"/>
                </a:highlight>
                <a:latin typeface="Calibri"/>
              </a:rPr>
              <a:t>real-time (day-ahead)</a:t>
            </a:r>
            <a:r>
              <a:rPr sz="1300" b="0" i="0" dirty="0">
                <a:solidFill>
                  <a:srgbClr val="52514E"/>
                </a:solidFill>
                <a:highlight>
                  <a:srgbClr val="FFFF00"/>
                </a:highlight>
                <a:latin typeface="Calibri"/>
              </a:rPr>
              <a:t> </a:t>
            </a:r>
            <a:r>
              <a:rPr sz="1300" b="0" i="0" dirty="0">
                <a:solidFill>
                  <a:srgbClr val="52514E"/>
                </a:solidFill>
                <a:latin typeface="Calibri"/>
              </a:rPr>
              <a:t>price foresight; round-trip efficiency = 100% (per given input); no degradation or cycling cost; energy arbitrage only (no capacity/ancillary revenue).</a:t>
            </a:r>
            <a:r>
              <a:rPr lang="en-US" sz="1300" b="0" i="0" dirty="0">
                <a:solidFill>
                  <a:srgbClr val="52514E"/>
                </a:solidFill>
                <a:latin typeface="Calibri"/>
              </a:rPr>
              <a:t> </a:t>
            </a:r>
          </a:p>
          <a:p>
            <a:pPr marL="285750" indent="-285750" algn="l">
              <a:lnSpc>
                <a:spcPct val="115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/>
              </a:rPr>
              <a:t>Head-room and foot-room (additional revenue)</a:t>
            </a:r>
          </a:p>
          <a:p>
            <a:pPr marL="285750" indent="-285750" algn="l">
              <a:lnSpc>
                <a:spcPct val="115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1300" dirty="0">
              <a:solidFill>
                <a:srgbClr val="52514E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2920" y="4434840"/>
            <a:ext cx="11201400" cy="127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457200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A78D6"/>
                </a:solidFill>
                <a:latin typeface="Calibri"/>
              </a:rPr>
              <a:t>Combined Solar + Storage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572000"/>
            <a:ext cx="8549640" cy="11367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 dirty="0">
                <a:solidFill>
                  <a:srgbClr val="52514E"/>
                </a:solidFill>
                <a:latin typeface="Calibri"/>
              </a:rPr>
              <a:t>Solar identical to standalone. Storage charges first from </a:t>
            </a:r>
            <a:r>
              <a:rPr lang="en-US" sz="1300" b="0" i="0" dirty="0">
                <a:solidFill>
                  <a:srgbClr val="52514E"/>
                </a:solidFill>
                <a:latin typeface="Calibri"/>
              </a:rPr>
              <a:t>curtailed solar, </a:t>
            </a:r>
            <a:r>
              <a:rPr sz="1300" b="0" i="0" dirty="0">
                <a:solidFill>
                  <a:srgbClr val="52514E"/>
                </a:solidFill>
                <a:latin typeface="Calibri"/>
              </a:rPr>
              <a:t>then tops up from the grid at the day's lowest remaining prices; discharge unchanged.</a:t>
            </a:r>
            <a:endParaRPr lang="en-US" sz="1300" b="0" i="0" dirty="0">
              <a:solidFill>
                <a:srgbClr val="52514E"/>
              </a:solidFill>
              <a:latin typeface="Calibri"/>
            </a:endParaRPr>
          </a:p>
          <a:p>
            <a:pPr marL="285750" indent="-2857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/>
              </a:rPr>
              <a:t>Head-room and foot-room (additional revenue)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endParaRPr lang="en-US" sz="1300" dirty="0">
              <a:solidFill>
                <a:srgbClr val="52514E"/>
              </a:solidFill>
              <a:latin typeface="Calibri"/>
            </a:endParaRPr>
          </a:p>
          <a:p>
            <a:pPr algn="l">
              <a:lnSpc>
                <a:spcPct val="115000"/>
              </a:lnSpc>
              <a:spcAft>
                <a:spcPts val="0"/>
              </a:spcAft>
            </a:pPr>
            <a:endParaRPr sz="1300" b="0" i="0" dirty="0">
              <a:solidFill>
                <a:srgbClr val="52514E"/>
              </a:solidFill>
              <a:latin typeface="Calibri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2920" y="5669280"/>
            <a:ext cx="11201400" cy="127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2920" y="5852160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898781"/>
                </a:solidFill>
                <a:latin typeface="Calibri"/>
              </a:rPr>
              <a:t>All simplifications are intentional given the exercise's time-box (Q2b/2c each capped at ~1 hour); more rigorous operating assumptions are proposed in Q3b.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Q2  · 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2023 Backcast Revenue by Configuration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6 / 10</a:t>
            </a:r>
          </a:p>
        </p:txBody>
      </p:sp>
      <p:pic>
        <p:nvPicPr>
          <p:cNvPr id="8" name="Picture 7" descr="q2_revenue_by_con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13484"/>
            <a:ext cx="7223760" cy="42539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0" y="1554480"/>
            <a:ext cx="3977639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Standalone Solar: $18.80M (551,454 MWh delivered; avg. capture price $34.10/MWh).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Standalone Storage: $1.72M ($34.47/kW-yr, $8.62/kWh-yr) — energy arbitrage only.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Combined System: $20.54M — essentially the sum of the two standalone revenues.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Solar dominates the revenue stack for all three configurations; storage revenue from energy arbitrage alone is comparatively small.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Q2C  ·  SOLAR + STORAGE INTERACTION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The Pairing Benefit Is Real but Small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7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55778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600"/>
              </a:spcAft>
            </a:pPr>
            <a:r>
              <a:rPr sz="1500">
                <a:solidFill>
                  <a:srgbClr val="52514E"/>
                </a:solidFill>
                <a:latin typeface="Calibri"/>
              </a:rPr>
              <a:t>—  In the combined system, storage can charge from solar output that would otherwise be clipped by the 250 MW inverter limit — at zero marginal cost.</a:t>
            </a:r>
          </a:p>
          <a:p>
            <a:pPr algn="l">
              <a:lnSpc>
                <a:spcPct val="108000"/>
              </a:lnSpc>
              <a:spcAft>
                <a:spcPts val="1600"/>
              </a:spcAft>
            </a:pPr>
            <a:r>
              <a:rPr sz="1500">
                <a:solidFill>
                  <a:srgbClr val="52514E"/>
                </a:solidFill>
                <a:latin typeface="Calibri"/>
              </a:rPr>
              <a:t>—  Gross DC solar generation: 551,826 MWh; clipped/curtailed: only 372 MWh (0.07% of gross) — the 300/250 MW (1.2x) DC:AC ratio isn't aggressive enough to cause meaningful clipping.</a:t>
            </a:r>
          </a:p>
          <a:p>
            <a:pPr algn="l">
              <a:lnSpc>
                <a:spcPct val="108000"/>
              </a:lnSpc>
              <a:spcAft>
                <a:spcPts val="1600"/>
              </a:spcAft>
            </a:pPr>
            <a:r>
              <a:rPr sz="1500">
                <a:solidFill>
                  <a:srgbClr val="52514E"/>
                </a:solidFill>
                <a:latin typeface="Calibri"/>
              </a:rPr>
              <a:t>—  Combined revenue ($20,535,198) exceeds the simple sum of standalone solar + standalone storage ($20,527,496) by just $7,701 (+0.04%).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554480"/>
            <a:ext cx="5212080" cy="2743200"/>
          </a:xfrm>
          <a:prstGeom prst="rect">
            <a:avLst/>
          </a:prstGeom>
          <a:solidFill>
            <a:srgbClr val="FCFCFB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720840" y="173736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A78D6"/>
                </a:solidFill>
                <a:latin typeface="Calibri"/>
              </a:rPr>
              <a:t>TAKEAWAY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2103120"/>
            <a:ext cx="475488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2514E"/>
                </a:solidFill>
                <a:latin typeface="Calibri"/>
              </a:rPr>
              <a:t>On this design, pairing solar and storage does not meaningfully change energy revenue vs. running them separately.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endParaRPr sz="1400" b="0" i="0">
              <a:solidFill>
                <a:srgbClr val="52514E"/>
              </a:solidFill>
              <a:latin typeface="Calibri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2514E"/>
                </a:solidFill>
                <a:latin typeface="Calibri"/>
              </a:rPr>
              <a:t>The real case for the combined system rests on lower blended equipment cost, not an energy-arbitrage synergy — see Q3c.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760720"/>
            <a:ext cx="11155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1">
                <a:solidFill>
                  <a:srgbClr val="898781"/>
                </a:solidFill>
                <a:latin typeface="Calibri"/>
              </a:rPr>
              <a:t>Looking ahead: as NY's solar buildout accelerates over the next decade, curtailment risk — and therefore this interaction benefit — should grow (see Q3a).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Q3A  ·  FORWARD OUTLOOK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How Will Each Revenue Stream Evolve Over the Next Decade?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8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3611880" cy="7315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3611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0B0B0B"/>
                </a:solidFill>
                <a:latin typeface="Calibri"/>
              </a:rPr>
              <a:t>Standalone Solar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48840"/>
            <a:ext cx="3611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1">
                <a:solidFill>
                  <a:srgbClr val="2A78D6"/>
                </a:solidFill>
                <a:latin typeface="Calibri"/>
              </a:rPr>
              <a:t>Capture price likely erodes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97480"/>
            <a:ext cx="361188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CLCPA mandates 70% renewables by 2030, 100% zero-emission grid by 2040 — a large wave of new solar enters NYISO.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More solar depresses midday prices ("duck curve" / cannibalization), even as the overall price level may rise with electrification-driven demand.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463040"/>
            <a:ext cx="3611880" cy="73152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297680" y="1691640"/>
            <a:ext cx="3611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0B0B0B"/>
                </a:solidFill>
                <a:latin typeface="Calibri"/>
              </a:rPr>
              <a:t>Standalone Storage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148840"/>
            <a:ext cx="3611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1">
                <a:solidFill>
                  <a:srgbClr val="EB6834"/>
                </a:solidFill>
                <a:latin typeface="Calibri"/>
              </a:rPr>
              <a:t>Value likely increases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697480"/>
            <a:ext cx="361188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Same trend that hurts solar helps storage: steeper evening ramps widen the daily price spread storage arbitrages.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NYC's Peaker Rule retirements tighten local capacity. Risk: storage cannibalization if buildout outpaces the opportunity.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1463040"/>
            <a:ext cx="3611880" cy="73152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92440" y="1691640"/>
            <a:ext cx="3611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0B0B0B"/>
                </a:solidFill>
                <a:latin typeface="Calibri"/>
              </a:rPr>
              <a:t>Combined System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2148840"/>
            <a:ext cx="3611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1">
                <a:solidFill>
                  <a:srgbClr val="0B0B0B"/>
                </a:solidFill>
                <a:latin typeface="Calibri"/>
              </a:rPr>
              <a:t>Interaction benefit should grow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2697480"/>
            <a:ext cx="361188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Today's interaction (+0.04%) reflects minimal clipping.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As solar penetration rises, a co-located battery's ability to absorb otherwise-curtailed solar becomes more valuable — strengthening the strategic case for pairing.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Q3B  ·  PROPOSED FOLLOW-ON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A More Complete Revenue Forecast — 10 Additional Hours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9 / 10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1508760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490472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Forward price shapes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9080" y="1527048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069080" y="1563624"/>
            <a:ext cx="777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~3 hrs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1490472"/>
            <a:ext cx="6675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Replace the 2023 backcast with a forward-looking hourly price shape reflecting expected capacity additions/retirements and load growth (electrification, data centers), grounded in published NYISO / NYSERDA CLCPA outlooks.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295144"/>
            <a:ext cx="11201400" cy="9525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502920" y="2404872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386584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Realistic operating assumptions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9080" y="2423160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069080" y="2459736"/>
            <a:ext cx="777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~2 hrs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386584"/>
            <a:ext cx="6675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Round-trip efficiency ~85–90% (not 100%), solar degradation (~0.5%/yr), battery degradation/augmentation, multi-cycle-per-day dispatch where economic.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191256"/>
            <a:ext cx="11201400" cy="9525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502920" y="3300984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282696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Capacity &amp; ancillary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9080" y="3319272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069080" y="3355848"/>
            <a:ext cx="777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~2 hrs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3282696"/>
            <a:ext cx="6675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Add NYISO capacity market (ICAP) and frequency regulation revenue — often the majority of a merchant battery's revenue stack. Likely the single biggest gap in the Q2 analysis.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087368"/>
            <a:ext cx="11201400" cy="9525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502920" y="4197096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417880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Scenario / sensitivity analysis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69080" y="4215384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069080" y="4251960"/>
            <a:ext cx="777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~2 hrs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4178808"/>
            <a:ext cx="6675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High/low cases on load growth, gas prices, and renewable build-out pace, given how uncertain the 10-year price path is.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983480"/>
            <a:ext cx="11201400" cy="9525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502920" y="5093208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507492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Full pro forma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69080" y="5111496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069080" y="5148072"/>
            <a:ext cx="777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~1 hr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0" y="5074920"/>
            <a:ext cx="6675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Layer in provided capex, O&amp;M, financing, and ITC/IRA tax credit treatment to compute NPV/IRR rather than simple payback.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Q3C  · 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Combined Solar + Storage Is the Recommended Installation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10 / 10</a:t>
            </a:r>
          </a:p>
        </p:txBody>
      </p:sp>
      <p:pic>
        <p:nvPicPr>
          <p:cNvPr id="8" name="Picture 7" descr="q3_payback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31188"/>
            <a:ext cx="7040880" cy="308122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4709160"/>
            <a:ext cx="7040880" cy="4572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4846320"/>
            <a:ext cx="704088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898781"/>
                </a:solidFill>
                <a:latin typeface="Calibri"/>
              </a:rPr>
              <a:t>—  Simple payback (capex ÷ 2023 backcast revenue, no financing/tax/O&amp;M): Standalone Solar ~22 yrs, Standalone Storage ~44 yrs, Combined ~22 yrs.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35240" y="1371600"/>
            <a:ext cx="4114800" cy="4892040"/>
          </a:xfrm>
          <a:prstGeom prst="rect">
            <a:avLst/>
          </a:prstGeom>
          <a:solidFill>
            <a:srgbClr val="FCFCFB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63840" y="155448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A78D6"/>
                </a:solidFill>
                <a:latin typeface="Calibri"/>
              </a:rPr>
              <a:t>WHY COMBINED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1965960"/>
            <a:ext cx="370332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Matches standalone solar's payback almost exactly — storage is effectively added at no economic cost.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Combined package pricing ($1.25/W solar, $350/kWh storage) saves ~$35M in capex vs. building both standalone.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Better hedges the Q3a outlook: storage value should rise as solar capture price erodes.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4892040"/>
            <a:ext cx="37033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1">
                <a:solidFill>
                  <a:srgbClr val="898781"/>
                </a:solidFill>
                <a:latin typeface="Calibri"/>
              </a:rPr>
              <a:t>Caveat: standalone storage looks uneconomic here because only day-ahead energy arbitrage was modeled. Real storage revenue also includes capacity &amp; ancillary services (Q3b) — revisit before committing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305</TotalTime>
  <Words>1623</Words>
  <Application>Microsoft Macintosh PowerPoint</Application>
  <PresentationFormat>Widescreen</PresentationFormat>
  <Paragraphs>134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Yifu Ding</cp:lastModifiedBy>
  <cp:revision>6</cp:revision>
  <dcterms:created xsi:type="dcterms:W3CDTF">2013-01-27T09:14:16Z</dcterms:created>
  <dcterms:modified xsi:type="dcterms:W3CDTF">2026-09-14T20:13:21Z</dcterms:modified>
  <cp:category/>
</cp:coreProperties>
</file>