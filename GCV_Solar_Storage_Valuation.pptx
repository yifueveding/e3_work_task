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GCV Solar + Storage 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C3C2B7"/>
                </a:solidFill>
                <a:latin typeface="Calibri"/>
              </a:rPr>
              <a:t>NYISO N.Y.C. Zone  |  2023 Backcast Revenue Analysis &amp; Investment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886200"/>
            <a:ext cx="82296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Prepared for Green Charge Ventures  |  E3 Applicant Exercise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97135" y="614476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Combined solar + storage is the recommended installation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Calibri"/>
              </a:rPr>
              <a:t>GCV Solar + Storage Valuation  |  E3 Applicant Exercise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Calibri"/>
              </a:rPr>
              <a:t>2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2514600" cy="123444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A78D6"/>
                </a:solidFill>
                <a:latin typeface="Calibri"/>
              </a:rPr>
              <a:t>$33.94/MWh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2023 avg. NYISO N.Y.C.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day-ahead price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63040"/>
            <a:ext cx="2514600" cy="123444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600200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A78D6"/>
                </a:solidFill>
                <a:latin typeface="Calibri"/>
              </a:rPr>
              <a:t>$18.9M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Standalone solar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2023 backcast revenue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463040"/>
            <a:ext cx="2514600" cy="123444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600200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A78D6"/>
                </a:solidFill>
                <a:latin typeface="Calibri"/>
              </a:rPr>
              <a:t>$2.5M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19456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Standalone storage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2023 backcast revenue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1463040"/>
            <a:ext cx="2514600" cy="123444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600200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A78D6"/>
                </a:solidFill>
                <a:latin typeface="Calibri"/>
              </a:rPr>
              <a:t>$21.4M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19456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Combined system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2023 backcast 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063240"/>
            <a:ext cx="54864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50">
                <a:solidFill>
                  <a:srgbClr val="52514E"/>
                </a:solidFill>
                <a:latin typeface="Calibri"/>
              </a:rPr>
              <a:t>—  Prices peak in winter (Feb, cold-snap heating demand) and again in summer (Jul, A/C peak); shoulder months (spring/fall) trough well below average.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50">
                <a:solidFill>
                  <a:srgbClr val="52514E"/>
                </a:solidFill>
                <a:latin typeface="Calibri"/>
              </a:rPr>
              <a:t>—  Solar earns slightly above the flat average because its output aligns with summer peak-price hours; it earns below average in winter.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50">
                <a:solidFill>
                  <a:srgbClr val="52514E"/>
                </a:solidFill>
                <a:latin typeface="Calibri"/>
              </a:rPr>
              <a:t>—  Storage value tracks price volatility, not price level — Jul and Feb (largest daily price swings) are its best months.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50">
                <a:solidFill>
                  <a:srgbClr val="52514E"/>
                </a:solidFill>
                <a:latin typeface="Calibri"/>
              </a:rPr>
              <a:t>—  Pairing solar + storage adds only a marginal energy-arbitrage benefit today (+0.03%) since inverter clipping is minimal, but the combined package's cheaper per-unit equipment pricing saves ~$35M in capex vs. building both standalone.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063240"/>
            <a:ext cx="5440680" cy="3246120"/>
          </a:xfrm>
          <a:prstGeom prst="rect">
            <a:avLst/>
          </a:prstGeom>
          <a:solidFill>
            <a:srgbClr val="FCFCFB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2461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A78D6"/>
                </a:solidFill>
                <a:latin typeface="Calibri"/>
              </a:rPr>
              <a:t>RECOMMENDATION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56616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B0B0B"/>
                </a:solidFill>
                <a:latin typeface="Calibri"/>
              </a:rPr>
              <a:t>Combined Solar +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6052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>
                <a:solidFill>
                  <a:srgbClr val="52514E"/>
                </a:solidFill>
                <a:latin typeface="Calibri"/>
              </a:rPr>
              <a:t>—  ~21-year simple payback — matches standalone solar, so storage is effectively "added for free" from a payback standpoint.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>
                <a:solidFill>
                  <a:srgbClr val="52514E"/>
                </a:solidFill>
                <a:latin typeface="Calibri"/>
              </a:rPr>
              <a:t>—  ~$35M cheaper in capex than building solar and storage as two separate standalone projects.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>
                <a:solidFill>
                  <a:srgbClr val="52514E"/>
                </a:solidFill>
                <a:latin typeface="Calibri"/>
              </a:rPr>
              <a:t>—  Better hedges the coming decade: storage's value should rise as solar buildout erodes solar's own capture price.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Q1A  ·  HISTORICAL PRICES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2023 Monthly Average Day-Ahead Energy Price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Calibri"/>
              </a:rPr>
              <a:t>GCV Solar + Storage Valuation  |  E3 Applicant Exercise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Calibri"/>
              </a:rPr>
              <a:t>3 / 11</a:t>
            </a:r>
          </a:p>
        </p:txBody>
      </p:sp>
      <p:pic>
        <p:nvPicPr>
          <p:cNvPr id="8" name="Picture 7" descr="monthly_da_price_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84680"/>
            <a:ext cx="7040880" cy="391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35240" y="1554480"/>
            <a:ext cx="41148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50">
                <a:solidFill>
                  <a:srgbClr val="52514E"/>
                </a:solidFill>
                <a:latin typeface="Calibri"/>
              </a:rPr>
              <a:t>—  Annual average: $33.94/MWh.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50">
                <a:solidFill>
                  <a:srgbClr val="52514E"/>
                </a:solidFill>
                <a:latin typeface="Calibri"/>
              </a:rPr>
              <a:t>—  Winter peak: Feb ($51.84) and Jan ($42.77) — cold-snap driven heating &amp; gas demand.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50">
                <a:solidFill>
                  <a:srgbClr val="52514E"/>
                </a:solidFill>
                <a:latin typeface="Calibri"/>
              </a:rPr>
              <a:t>—  Summer peak: Jul ($41.72) — A/C-driven peak demand.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50">
                <a:solidFill>
                  <a:srgbClr val="52514E"/>
                </a:solidFill>
                <a:latin typeface="Calibri"/>
              </a:rPr>
              <a:t>—  Shoulder-month trough: Apr–Jun &amp; Aug–Oct sit near $25–30/MWh, when heating and cooling demand are both low.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50">
                <a:solidFill>
                  <a:srgbClr val="52514E"/>
                </a:solidFill>
                <a:latin typeface="Calibri"/>
              </a:rPr>
              <a:t>—  This "winter + summer peak, shoulder trough" shape drives which hours are most valuable for solar vs. storage (next slide).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Q1B &amp; Q1C  ·  SEASONAL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Solar and Storage Peak in Different — and Overlapping —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Calibri"/>
              </a:rPr>
              <a:t>GCV Solar + Storage Valuation  |  E3 Applicant Exercise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Calibri"/>
              </a:rPr>
              <a:t>4 / 11</a:t>
            </a:r>
          </a:p>
        </p:txBody>
      </p:sp>
      <p:pic>
        <p:nvPicPr>
          <p:cNvPr id="8" name="Picture 7" descr="solar_value_by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80606"/>
            <a:ext cx="5532120" cy="3028107"/>
          </a:xfrm>
          <a:prstGeom prst="rect">
            <a:avLst/>
          </a:prstGeom>
        </p:spPr>
      </p:pic>
      <p:pic>
        <p:nvPicPr>
          <p:cNvPr id="9" name="Picture 8" descr="storage_value_by_mon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57960"/>
            <a:ext cx="5532120" cy="307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4709160"/>
            <a:ext cx="5532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A78D6"/>
                </a:solidFill>
                <a:latin typeface="Calibri"/>
              </a:rPr>
              <a:t>Solar: most valuable May–Sep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074920"/>
            <a:ext cx="5532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52514E"/>
                </a:solidFill>
                <a:latin typeface="Calibri"/>
              </a:rPr>
              <a:t>—  Summer capture price runs 8–17% above the flat average (Jul: $48.89 vs. $41.72) — solar hours line up with A/C-driven peak prices.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52514E"/>
                </a:solidFill>
                <a:latin typeface="Calibri"/>
              </a:rPr>
              <a:t>—  Winter capture price runs below flat average (95–99%) — winter price spikes hit before sunrise / after sunset, which solar misses.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709160"/>
            <a:ext cx="5532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EB6834"/>
                </a:solidFill>
                <a:latin typeface="Calibri"/>
              </a:rPr>
              <a:t>Storage: most valuable in extreme-weather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5074920"/>
            <a:ext cx="5532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52514E"/>
                </a:solidFill>
                <a:latin typeface="Calibri"/>
              </a:rPr>
              <a:t>—  Jul ($50/MWh avg. daily spread) and Feb ($43/MWh) are far above the $29 annual average — driven by sharp heat-wave / cold-snap price spikes.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52514E"/>
                </a:solidFill>
                <a:latin typeface="Calibri"/>
              </a:rPr>
              <a:t>—  Shoulder months (Mar–Jun, Aug–Dec) are weakest ($21–30) — mild weather means flatter daily price shapes and less arbitrage opportunity.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Q2  · 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Revenue Modeling Approach &amp; Key Assumptions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Calibri"/>
              </a:rPr>
              <a:t>GCV Solar + Storage Valuation  |  E3 Applicant Exercise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Calibri"/>
              </a:rPr>
              <a:t>5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52514E"/>
                </a:solidFill>
                <a:latin typeface="Calibri"/>
              </a:rPr>
              <a:t>Price basis: Real-Time (RT) prices used throughout — reflects the actual settlement value of energy at the time it is physically delivered.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11201400" cy="254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Standalone Solar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103120"/>
            <a:ext cx="85496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Delivered output = min(Solar Shape × 300 MW-DC, 250 MW-AC inverter limit). Revenue = Σ(delivered MW × RT price).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00400"/>
            <a:ext cx="11201400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3756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Standalone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337560"/>
            <a:ext cx="85496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4-hr duration (200 MWh ÷ 50 MW). 1 full cycle/day: charge the day's 4 lowest-price hours, discharge the 4 highest-price hours. Perfect real-time price foresight; round-trip efficiency = 100% (per given input); no degradation or cycling cost; energy arbitrage only (no capacity/ancillary revenue).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34840"/>
            <a:ext cx="11201400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57200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Combined Solar +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572000"/>
            <a:ext cx="85496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Solar identical to standalone. Storage charges first from otherwise-clipped/curtailed solar (zero cost), then tops up from the grid at the day's lowest remaining prices; discharge unchanged.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669280"/>
            <a:ext cx="11201400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85216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898781"/>
                </a:solidFill>
                <a:latin typeface="Calibri"/>
              </a:rPr>
              <a:t>All simplifications are intentional given the exercise's time-box (Q2b/2c each capped at ~1 hour); more rigorous operating assumptions are proposed in Q3b.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Q2  ·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2023 Backcast Revenue by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Calibri"/>
              </a:rPr>
              <a:t>GCV Solar + Storage Valuation  |  E3 Applicant Exercise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Calibri"/>
              </a:rPr>
              <a:t>6 / 11</a:t>
            </a:r>
          </a:p>
        </p:txBody>
      </p:sp>
      <p:pic>
        <p:nvPicPr>
          <p:cNvPr id="8" name="Picture 7" descr="q2_revenue_by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13484"/>
            <a:ext cx="7223760" cy="42539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1554480"/>
            <a:ext cx="39776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52514E"/>
                </a:solidFill>
                <a:latin typeface="Calibri"/>
              </a:rPr>
              <a:t>—  Standalone Solar: $18.91M (551,454 MWh delivered; avg. capture price $34.29/MWh).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52514E"/>
                </a:solidFill>
                <a:latin typeface="Calibri"/>
              </a:rPr>
              <a:t>—  Standalone Storage: $2.47M ($49.48/kW-yr, $12.37/kWh-yr) — energy arbitrage only.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52514E"/>
                </a:solidFill>
                <a:latin typeface="Calibri"/>
              </a:rPr>
              <a:t>—  Combined System: $21.39M — essentially the sum of the two standalone revenues.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52514E"/>
                </a:solidFill>
                <a:latin typeface="Calibri"/>
              </a:rPr>
              <a:t>—  Solar dominates the revenue stack for all three configurations; storage revenue from energy arbitrage alone is comparatively small.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Q2C  ·  SOLAR + STORAGE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The Pairing Benefit Is Real but Small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Calibri"/>
              </a:rPr>
              <a:t>GCV Solar + Storage Valuation  |  E3 Applicant Exercise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Calibri"/>
              </a:rPr>
              <a:t>7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55778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600"/>
              </a:spcAft>
            </a:pPr>
            <a:r>
              <a:rPr sz="1500">
                <a:solidFill>
                  <a:srgbClr val="52514E"/>
                </a:solidFill>
                <a:latin typeface="Calibri"/>
              </a:rPr>
              <a:t>—  In the combined system, storage can charge from solar output that would otherwise be clipped by the 250 MW inverter limit — at zero marginal cost.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</a:pPr>
            <a:r>
              <a:rPr sz="1500">
                <a:solidFill>
                  <a:srgbClr val="52514E"/>
                </a:solidFill>
                <a:latin typeface="Calibri"/>
              </a:rPr>
              <a:t>—  Gross DC solar generation: 551,826 MWh; clipped/curtailed: only 372 MWh (0.07% of gross) — the 300/250 MW (1.2x) DC:AC ratio isn't aggressive enough to cause meaningful clipping.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</a:pPr>
            <a:r>
              <a:rPr sz="1500">
                <a:solidFill>
                  <a:srgbClr val="52514E"/>
                </a:solidFill>
                <a:latin typeface="Calibri"/>
              </a:rPr>
              <a:t>—  Combined revenue ($21,391,036) exceeds the simple sum of standalone solar + standalone storage ($21,384,178) by just $6,857 (+0.03%).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554480"/>
            <a:ext cx="5212080" cy="2743200"/>
          </a:xfrm>
          <a:prstGeom prst="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7373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A78D6"/>
                </a:solidFill>
                <a:latin typeface="Calibri"/>
              </a:rPr>
              <a:t>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103120"/>
            <a:ext cx="4754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Calibri"/>
              </a:rPr>
              <a:t>On this design, pairing solar and storage does not meaningfully change energy revenue vs. running them separately.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Calibri"/>
              </a:rPr>
              <a:t>The real case for the combined system rests on lower blended equipment cost, not an energy-arbitrage synergy — see Q3c.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76072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898781"/>
                </a:solidFill>
                <a:latin typeface="Calibri"/>
              </a:rPr>
              <a:t>Looking ahead: as NY's solar buildout accelerates over the next decade, curtailment risk — and therefore this interaction benefit — should grow (see Q3a).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Q2D  ·  RESERVE SCENARIO (EXTENSION)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Layering NYISO Reserve Revenue on Top of Energy Arbitrage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Calibri"/>
              </a:rPr>
              <a:t>GCV Solar + Storage Valuation  |  E3 Applicant Exercise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Calibri"/>
              </a:rPr>
              <a:t>8 / 11</a:t>
            </a:r>
          </a:p>
        </p:txBody>
      </p:sp>
      <p:pic>
        <p:nvPicPr>
          <p:cNvPr id="8" name="Picture 7" descr="q2_energy_only_by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80" y="1371600"/>
            <a:ext cx="5512279" cy="3246120"/>
          </a:xfrm>
          <a:prstGeom prst="rect">
            <a:avLst/>
          </a:prstGeom>
        </p:spPr>
      </p:pic>
      <p:pic>
        <p:nvPicPr>
          <p:cNvPr id="9" name="Picture 8" descr="q2_energy_plus_reserve_by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560" y="1371600"/>
            <a:ext cx="5512279" cy="3246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4754880"/>
            <a:ext cx="11155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52514E"/>
                </a:solidFill>
                <a:latin typeface="Calibri"/>
              </a:rPr>
              <a:t>—  Beyond the base exercise: estimates additional revenue from offering NYISO reserve capacity at $1.25/MW-hr (midpoint of the $1–1.5/MW range you flagged). Headroom = capacity to increase output on call; footroom = capacity to decrease output on call.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52514E"/>
                </a:solidFill>
                <a:latin typeface="Calibri"/>
              </a:rPr>
              <a:t>—  Solar offers footroom only (already at its irradiance-limited max) = that hour's delivered MW → +$0.69M (+3.6%). Storage reuses the Q2b/c daily schedule (footroom while charging, headroom while discharging, both simultaneously while idle) → +$0.91M (+36.9%). Combined sums the two → +$1.60M (+7.5%).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1">
                <a:solidFill>
                  <a:srgbClr val="898781"/>
                </a:solidFill>
                <a:latin typeface="Calibri"/>
              </a:rPr>
              <a:t>Illustrative only: real NYISO reserve products carry response-time, minimum-run, and co-optimization rules stricter than modeled here — a more rigorous treatment is part of the Q3b follow-on scope.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Q3A  ·  FORWARD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How Will Each Revenue Stream Evolve Over the Next Decade?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Calibri"/>
              </a:rPr>
              <a:t>GCV Solar + Storage Valuation  |  E3 Applicant Exercise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Calibri"/>
              </a:rPr>
              <a:t>9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3611880" cy="7315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Standalone Solar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1">
                <a:solidFill>
                  <a:srgbClr val="2A78D6"/>
                </a:solidFill>
                <a:latin typeface="Calibri"/>
              </a:rPr>
              <a:t>Capture price likely erodes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97480"/>
            <a:ext cx="36118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300">
                <a:solidFill>
                  <a:srgbClr val="52514E"/>
                </a:solidFill>
                <a:latin typeface="Calibri"/>
              </a:rPr>
              <a:t>—  CLCPA mandates 70% renewables by 2030, 100% zero-emission grid by 2040 — a large wave of new solar enters NYISO.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300">
                <a:solidFill>
                  <a:srgbClr val="52514E"/>
                </a:solidFill>
                <a:latin typeface="Calibri"/>
              </a:rPr>
              <a:t>—  More solar depresses midday prices ("duck curve" / cannibalization), even as the overall price level may rise with electrification-driven demand.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611880" cy="7315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691640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Standalone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148840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1">
                <a:solidFill>
                  <a:srgbClr val="EB6834"/>
                </a:solidFill>
                <a:latin typeface="Calibri"/>
              </a:rPr>
              <a:t>Value likely increases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697480"/>
            <a:ext cx="36118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300">
                <a:solidFill>
                  <a:srgbClr val="52514E"/>
                </a:solidFill>
                <a:latin typeface="Calibri"/>
              </a:rPr>
              <a:t>—  Same trend that hurts solar helps storage: steeper evening ramps widen the daily price spread storage arbitrages.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300">
                <a:solidFill>
                  <a:srgbClr val="52514E"/>
                </a:solidFill>
                <a:latin typeface="Calibri"/>
              </a:rPr>
              <a:t>—  NYC's Peaker Rule retirements tighten local capacity. Risk: storage cannibalization if buildout outpaces the opportunity.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463040"/>
            <a:ext cx="3611880" cy="73152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1691640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Combined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148840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1">
                <a:solidFill>
                  <a:srgbClr val="0B0B0B"/>
                </a:solidFill>
                <a:latin typeface="Calibri"/>
              </a:rPr>
              <a:t>Interaction benefit should grow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697480"/>
            <a:ext cx="36118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300">
                <a:solidFill>
                  <a:srgbClr val="52514E"/>
                </a:solidFill>
                <a:latin typeface="Calibri"/>
              </a:rPr>
              <a:t>—  Today's interaction (+0.03%) reflects minimal clipping.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300">
                <a:solidFill>
                  <a:srgbClr val="52514E"/>
                </a:solidFill>
                <a:latin typeface="Calibri"/>
              </a:rPr>
              <a:t>—  As solar penetration rises, a co-located battery's ability to absorb otherwise-curtailed solar becomes more valuable — strengthening the strategic case for pairing.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Q3B  ·  PROPOSED FOLLOW-ON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A More Complete Revenue Forecast — 10 Additional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Calibri"/>
              </a:rPr>
              <a:t>GCV Solar + Storage Valuation  |  E3 Applicant Exercise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Calibri"/>
              </a:rPr>
              <a:t>10 / 11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50876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49047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Forward price shapes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1527048"/>
            <a:ext cx="777240" cy="292608"/>
          </a:xfrm>
          <a:prstGeom prst="rect">
            <a:avLst/>
          </a:prstGeom>
          <a:solidFill>
            <a:srgbClr val="FCFCFB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1563624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Calibri"/>
              </a:rPr>
              <a:t>~3 hrs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490472"/>
            <a:ext cx="6675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Replace the 2023 backcast with a forward-looking hourly price shape reflecting expected capacity additions/retirements and load growth (electrification, data centers), grounded in published NYISO / NYSERDA CLCPA outlooks.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95144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2920" y="2404872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38658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Realistic operating assumptions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80" y="2423160"/>
            <a:ext cx="777240" cy="292608"/>
          </a:xfrm>
          <a:prstGeom prst="rect">
            <a:avLst/>
          </a:prstGeom>
          <a:solidFill>
            <a:srgbClr val="FCFCFB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2459736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Calibri"/>
              </a:rPr>
              <a:t>~2 hrs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386584"/>
            <a:ext cx="6675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Round-trip efficiency ~85–90% (not 100%), solar degradation (~0.5%/yr), battery degradation/augmentation, multi-cycle-per-day dispatch where economic.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191256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00984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28269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Capacity &amp; ancillary revenue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9080" y="3319272"/>
            <a:ext cx="777240" cy="292608"/>
          </a:xfrm>
          <a:prstGeom prst="rect">
            <a:avLst/>
          </a:prstGeom>
          <a:solidFill>
            <a:srgbClr val="FCFCFB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9080" y="335584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Calibri"/>
              </a:rPr>
              <a:t>~2 hrs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282696"/>
            <a:ext cx="6675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Add NYISO capacity market (ICAP) and frequency regulation revenue — often the majority of a merchant battery's revenue stack. Q2d sketches an illustrative reserve add-on; a rigorous version (real product rules, co-optimization, capacity market) is still the single biggest gap.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087368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02920" y="4197096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17880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Scenario / sensitivity analysis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4215384"/>
            <a:ext cx="777240" cy="292608"/>
          </a:xfrm>
          <a:prstGeom prst="rect">
            <a:avLst/>
          </a:prstGeom>
          <a:solidFill>
            <a:srgbClr val="FCFCFB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80" y="4251960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Calibri"/>
              </a:rPr>
              <a:t>~2 hrs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178808"/>
            <a:ext cx="6675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High/low cases on load growth, gas prices, and renewable build-out pace, given how uncertain the 10-year price path is.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983480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2920" y="5093208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0749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Full pro forma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69080" y="5111496"/>
            <a:ext cx="777240" cy="292608"/>
          </a:xfrm>
          <a:prstGeom prst="rect">
            <a:avLst/>
          </a:prstGeom>
          <a:solidFill>
            <a:srgbClr val="FCFCFB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69080" y="5148072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Calibri"/>
              </a:rPr>
              <a:t>~1 hr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5074920"/>
            <a:ext cx="6675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Layer in provided capex, O&amp;M, financing, and ITC/IRA tax credit treatment to compute NPV/IRR rather than simple payback.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Q3C  · 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Combined Solar + Storage Is the Recommended Installation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Calibri"/>
              </a:rPr>
              <a:t>GCV Solar + Storage Valuation  |  E3 Applicant Exercise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Calibri"/>
              </a:rPr>
              <a:t>11 / 11</a:t>
            </a:r>
          </a:p>
        </p:txBody>
      </p:sp>
      <p:pic>
        <p:nvPicPr>
          <p:cNvPr id="8" name="Picture 7" descr="q3_paybac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29512"/>
            <a:ext cx="7040880" cy="30845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4709160"/>
            <a:ext cx="7040880" cy="457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846320"/>
            <a:ext cx="7040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898781"/>
                </a:solidFill>
                <a:latin typeface="Calibri"/>
              </a:rPr>
              <a:t>—  Simple payback (capex ÷ 2023 backcast revenue, no financing/tax/O&amp;M): Standalone Solar ~21 yrs, Standalone Storage ~30 yrs, Combined ~21 yrs.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371600"/>
            <a:ext cx="4114800" cy="4892040"/>
          </a:xfrm>
          <a:prstGeom prst="rect">
            <a:avLst/>
          </a:prstGeom>
          <a:solidFill>
            <a:srgbClr val="FCFCFB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5544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A78D6"/>
                </a:solidFill>
                <a:latin typeface="Calibri"/>
              </a:rPr>
              <a:t>WHY COMBINED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965960"/>
            <a:ext cx="37033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250">
                <a:solidFill>
                  <a:srgbClr val="52514E"/>
                </a:solidFill>
                <a:latin typeface="Calibri"/>
              </a:rPr>
              <a:t>—  Matches standalone solar's payback almost exactly — storage is effectively added at no economic cost.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250">
                <a:solidFill>
                  <a:srgbClr val="52514E"/>
                </a:solidFill>
                <a:latin typeface="Calibri"/>
              </a:rPr>
              <a:t>—  Combined package pricing ($1.25/W solar, $350/kWh storage) saves ~$35M in capex vs. building both standalone.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250">
                <a:solidFill>
                  <a:srgbClr val="52514E"/>
                </a:solidFill>
                <a:latin typeface="Calibri"/>
              </a:rPr>
              <a:t>—  Better hedges the Q3a outlook: storage value should rise as solar capture price erodes.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892040"/>
            <a:ext cx="3703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1">
                <a:solidFill>
                  <a:srgbClr val="898781"/>
                </a:solidFill>
                <a:latin typeface="Calibri"/>
              </a:rPr>
              <a:t>Caveat: standalone storage still looks weak here because only real-time energy arbitrage was modeled. Real storage revenue also includes capacity &amp; ancillary services (Q3b) — revisit before committing capital.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