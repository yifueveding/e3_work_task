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GCV Solar + Storage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C3C2B7"/>
                </a:solidFill>
                <a:latin typeface="Calibri"/>
              </a:rPr>
              <a:t>NYISO N.Y.C. Zone  |  2023 Backcast Revenue Analysis &amp; Investment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82296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6144768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Prepared for Green Charge Ventures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97135" y="6144768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2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$33.94/MWh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avg. NYISO N.Y.C.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day-ahead price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$18.8M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solar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Standalone 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32520" y="1463040"/>
            <a:ext cx="2514600" cy="1234440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1600200"/>
            <a:ext cx="2240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2A78D6"/>
                </a:solidFill>
                <a:latin typeface="Calibri"/>
              </a:rPr>
              <a:t>$20.8M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19456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Combined system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52514E"/>
                </a:solidFill>
                <a:latin typeface="Calibri"/>
              </a:rPr>
              <a:t>2023 backcast 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0632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Prices peak in winter (Feb, cold-snap heating demand) and again in summer (Jul, A/C peak); shoulder months (spring/fall) trough well below average.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Solar earns slightly above the flat average because its output aligns with summer peak-price hours; it earns below average in winter.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Storage value tracks price volatility, not price level — Jul and Feb (largest daily price swings) are its best months.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Pairing solar + storage adds only a marginal energy-arbitrage benefit today (+0.05%) since inverter clipping is minimal, but the combined package's cheaper per-unit equipment pricing saves ~$35M in capex vs. building both standalone.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63240"/>
            <a:ext cx="5440680" cy="324612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246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RECOMMENDATION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566160"/>
            <a:ext cx="4937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0B0B0B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6052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~21-year simple payback — matches standalone solar, so storage is effectively "added for free" from a payback standpoint.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~$35M cheaper in capex than building solar and storage as two separate standalone projects.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350">
                <a:solidFill>
                  <a:srgbClr val="52514E"/>
                </a:solidFill>
                <a:latin typeface="Calibri"/>
              </a:rPr>
              <a:t>—  Better hedges the coming decade: storage's value should rise as solar buildout erodes solar's own capture price.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Q1A  ·  HISTORICAL PRICES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Monthly Average Day-Ahead Energy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3 / 11</a:t>
            </a:r>
          </a:p>
        </p:txBody>
      </p:sp>
      <p:pic>
        <p:nvPicPr>
          <p:cNvPr id="8" name="Picture 7" descr="monthly_da_price_2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4680"/>
            <a:ext cx="7040880" cy="391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554480"/>
            <a:ext cx="411480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Annual average: $33.94/MWh.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Winter peak: Feb ($51.84) and Jan ($42.77) — cold-snap driven heating &amp; gas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Summer peak: Jul ($41.72) — A/C-driven peak demand.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Shoulder-month trough: Apr–Jun &amp; Aug–Oct sit near $25–30/MWh, when heating and cooling demand are both low.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52514E"/>
                </a:solidFill>
                <a:latin typeface="Calibri"/>
              </a:rPr>
              <a:t>—  This "winter + summer peak, shoulder trough" shape drives which hours are most valuable for solar vs. storage (next slide).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Q1B &amp; Q1C  ·  SEASONAL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Solar and Storage Peak in Different — and Overlapping —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4 / 11</a:t>
            </a:r>
          </a:p>
        </p:txBody>
      </p:sp>
      <p:pic>
        <p:nvPicPr>
          <p:cNvPr id="8" name="Picture 7" descr="solar_value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0606"/>
            <a:ext cx="5532120" cy="3028107"/>
          </a:xfrm>
          <a:prstGeom prst="rect">
            <a:avLst/>
          </a:prstGeom>
        </p:spPr>
      </p:pic>
      <p:pic>
        <p:nvPicPr>
          <p:cNvPr id="9" name="Picture 8" descr="storage_value_by_mon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57960"/>
            <a:ext cx="5532120" cy="307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Solar: most valuable May–Sep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Summer capture price runs 8–17% above the flat average (Jul: $48.89 vs. $41.72) — solar hours line up with A/C-driven peak prices.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Winter capture price runs below flat average (95–99%) — winter price spikes hit before sunrise / after sunset, which solar misses.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709160"/>
            <a:ext cx="5532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EB6834"/>
                </a:solidFill>
                <a:latin typeface="Calibri"/>
              </a:rPr>
              <a:t>Storage: most valuable in extreme-weather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5074920"/>
            <a:ext cx="5532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Jul ($50/MWh avg. daily spread) and Feb ($43/MWh) are far above the $29 annual average — driven by sharp heat-wave / cold-snap price spikes.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Shoulder months (Mar–Jun, Aug–Dec) are weakest ($21–30) — mild weather means flatter daily price shapes and less arbitrage opportunity.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Revenue Modeling Approach &amp; Key Assumptions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5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300 MW-DC / 250 MW-AC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Solar Size / Inverter Limit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613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585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50 MW / 200 MWh (4-hr)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3585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Storage Power / Energy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934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906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06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Round-Trip 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72550" y="1298448"/>
            <a:ext cx="2686050" cy="658368"/>
          </a:xfrm>
          <a:prstGeom prst="rect">
            <a:avLst/>
          </a:prstGeom>
          <a:solidFill>
            <a:srgbClr val="FCFCFB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2278" y="1380744"/>
            <a:ext cx="246659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Day-Ahead (DA)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2278" y="1682496"/>
            <a:ext cx="246659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2514E"/>
                </a:solidFill>
                <a:latin typeface="Calibri"/>
              </a:rPr>
              <a:t>Price Basis — see note below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048256"/>
            <a:ext cx="11155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898781"/>
                </a:solidFill>
                <a:latin typeface="Calibri"/>
              </a:rPr>
              <a:t>Notation: p_t = hourly price ($/MWh); s_t = normalized solar shape; G_t = delivered solar MW.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40864"/>
            <a:ext cx="11201400" cy="254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4505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Solar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450592"/>
            <a:ext cx="8549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Delivered output = min(Solar Shape × 300 MW-DC, 250 MW-AC inverter limit). Revenue = Σ(delivered MW × DA price).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44368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0175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Standalone Storage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3017520"/>
            <a:ext cx="8549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Per-day linear program (50 MW power limit, 200 MWh energy limit, SOC starts at 0) chooses the revenue-maximizing hourly charge/discharge schedule — letting the optimizer find multiple cycles/day when DA prices oscillate enough, rather than assuming one fixed 4-hr cycle (worth +14.75% vs. that heuristic). Perfect day-ahead price foresight; RTE = 100% (per given input); no degradation/cycling cost; energy arbitrage only in this base case (see Reserve Scenario row below).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68496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04164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Combined Solar + Storage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041648"/>
            <a:ext cx="85496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Solar identical to standalone. Storage uses the same per-day LP, except charging can draw up to 50 MW/hr for $0 from that hour's otherwise-clipped solar before paying the grid price for any remaining need.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72584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4573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A78D6"/>
                </a:solidFill>
                <a:latin typeface="Calibri"/>
              </a:rPr>
              <a:t>Reserve Scenario (Q2d)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745736"/>
            <a:ext cx="85496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 i="0">
                <a:solidFill>
                  <a:srgbClr val="52514E"/>
                </a:solidFill>
                <a:latin typeface="Calibri"/>
              </a:rPr>
              <a:t>Extension beyond the base exercise: reserve capacity valued at $1.25/MW-hr (midpoint of $1–1.5/MW). Headroom = up-reserve capacity; footroom = down-reserve capacity, classified hour-by-hour from the actual LP dispatch. Solar cannot provide reserve (variable, non-dispatchable) → $0. Storage → +$0.78M — less than a single-cycle heuristic would offer, since multi-cycling leaves fewer idle hours available as reserve. Details on Slide 8.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50992"/>
            <a:ext cx="11201400" cy="1270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7900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898781"/>
                </a:solidFill>
                <a:latin typeface="Calibri"/>
              </a:rPr>
              <a:t>All simplifications are intentional given the exercise's time-box (Q2b/2c each capped at ~1 hour); more rigorous operating assumptions are proposed in Q3b. Note: we use DA prices specifically because the LP dispatch assumes perfect price foresight — realistic under DA (published in advance) but not under real-time (not knowable in advance). A parallel RT-basis run earns modestly more (solar $18.91M, storage $2.73M) precisely because it credits foreknowledge an RT-only strategy wouldn't really have.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  · 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2023 Backcast Revenue by Configuration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6 / 11</a:t>
            </a:r>
          </a:p>
        </p:txBody>
      </p:sp>
      <p:pic>
        <p:nvPicPr>
          <p:cNvPr id="8" name="Picture 7" descr="q2_revenue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13484"/>
            <a:ext cx="7223760" cy="42539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0" y="1554480"/>
            <a:ext cx="397763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Solar: $18.80M (551,454 MWh delivered; avg. capture price $34.10/MWh).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Standalone Storage: $1.98M ($39.56/kW-yr, $9.89/kWh-yr) — multi-cycle LP-optimized energy arbitrage only.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Combined System: $20.79M — essentially the sum of the two standalone revenues.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52514E"/>
                </a:solidFill>
                <a:latin typeface="Calibri"/>
              </a:rPr>
              <a:t>—  Solar dominates the revenue stack for all three configurations; storage revenue from energy arbitrage alone is comparatively small.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Q2C  ·  SOLAR + STORAGE 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The Pairing Benefit Is Real but Small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7 /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5778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In the combined system, storage can charge from solar output that would otherwise be clipped by the 250 MW inverter limit — at zero marginal cost.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Gross DC solar generation: 551,826 MWh; clipped/curtailed: only 372 MWh (0.07% of gross) — the 300/250 MW (1.2x) DC:AC ratio isn't aggressive enough to cause meaningful clipping.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500">
                <a:solidFill>
                  <a:srgbClr val="52514E"/>
                </a:solidFill>
                <a:latin typeface="Calibri"/>
              </a:rPr>
              <a:t>—  Combined revenue ($20,791,797) exceeds the simple sum of standalone solar + standalone storage ($20,781,773) by just $10,023 (+0.05%).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5212080" cy="2743200"/>
          </a:xfrm>
          <a:prstGeom prst="rect">
            <a:avLst/>
          </a:prstGeom>
          <a:solidFill>
            <a:srgbClr val="FCFCFB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17373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103120"/>
            <a:ext cx="4754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On this design, pairing solar and storage does not meaningfully change energy revenue vs. running them separately.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2514E"/>
                </a:solidFill>
                <a:latin typeface="Calibri"/>
              </a:rPr>
              <a:t>The real case for the combined system rests on lower blended equipment cost, not an energy-arbitrage synergy — see Q3c.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898781"/>
                </a:solidFill>
                <a:latin typeface="Calibri"/>
              </a:rPr>
              <a:t>Looking ahead: as NY's solar buildout accelerates over the next decade, curtailment risk — and therefore this interaction benefit — should grow (see Q3a).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Q2D  ·  RESERVE SCENARIO (EXTENSION)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Layering NYISO Reserve Revenue on Top of Energy Arbitrage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8 / 11</a:t>
            </a:r>
          </a:p>
        </p:txBody>
      </p:sp>
      <p:pic>
        <p:nvPicPr>
          <p:cNvPr id="8" name="Picture 7" descr="q2_energy_only_by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680" y="1371600"/>
            <a:ext cx="5512279" cy="3246120"/>
          </a:xfrm>
          <a:prstGeom prst="rect">
            <a:avLst/>
          </a:prstGeom>
        </p:spPr>
      </p:pic>
      <p:pic>
        <p:nvPicPr>
          <p:cNvPr id="9" name="Picture 8" descr="q2_energy_plus_reserve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560" y="1371600"/>
            <a:ext cx="5512279" cy="3246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Beyond the base exercise: estimates additional revenue from offering NYISO reserve capacity at $1.25/MW-hr (midpoint of the $1–1.5/MW range you flagged). Headroom = capacity to increase output on call; footroom = capacity to decrease output on call.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Solar cannot provide reserve — it is a variable, non-dispatchable resource, so it earns $0. Storage is classified hour-by-hour from its actual Q2b/c LP dispatch (footroom while charging, headroom while discharging, both simultaneously while idle) → +$0.78M (+39.5%) — less than a single-cycle heuristic would offer, since multi-cycling leaves fewer idle hours. Combined reserve comes entirely from the storage component → +$0.78M (+3.8%).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98781"/>
                </a:solidFill>
                <a:latin typeface="Calibri"/>
              </a:rPr>
              <a:t>Illustrative only — real reserve products carry stricter rules than modeled here; see Q3b for a rigorous treatment.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Q3A  ·  FORWARD 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How Will Each Revenue Stream Evolve Over the Next Decade?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9 /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611880" cy="7315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Solar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2A78D6"/>
                </a:solidFill>
                <a:latin typeface="Calibri"/>
              </a:rPr>
              <a:t>Capture price likely erodes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CLCPA mandates 70% renewables by 2030, 100% zero-emission grid by 2040 — a large wave of new solar enters NYISO.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More solar depresses midday prices ("duck curve" / cannibalization), even as the overall price level may rise with electrification-driven demand.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611880" cy="7315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Standalone 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EB6834"/>
                </a:solidFill>
                <a:latin typeface="Calibri"/>
              </a:rPr>
              <a:t>Value likely increases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Same trend that hurts solar helps storage: steeper evening ramps widen the daily price spread storage arbitrages.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NYC's Peaker Rule retirements tighten local capacity. Risk: storage cannibalization if buildout outpaces the opportunity.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63040"/>
            <a:ext cx="3611880" cy="73152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16916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0B0B0B"/>
                </a:solidFill>
                <a:latin typeface="Calibri"/>
              </a:rPr>
              <a:t>Combined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148840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1">
                <a:solidFill>
                  <a:srgbClr val="0B0B0B"/>
                </a:solidFill>
                <a:latin typeface="Calibri"/>
              </a:rPr>
              <a:t>Interaction benefit should grow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697480"/>
            <a:ext cx="361188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Today's interaction (+0.05%) reflects minimal clipping.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300">
                <a:solidFill>
                  <a:srgbClr val="52514E"/>
                </a:solidFill>
                <a:latin typeface="Calibri"/>
              </a:rPr>
              <a:t>—  As solar penetration rises, a co-located battery's ability to absorb otherwise-curtailed solar becomes more valuable — strengthening the strategic case for pairing.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Q3B  ·  PROPOSED FOLLOW-ON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A More Complete Revenue Forecast — 10 Additional Hours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10 / 11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08760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49047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Forward price shapes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9080" y="1527048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563624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~3 hrs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1490472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Replace the 2023 backcast with a forward-looking hourly price shape reflecting expected capacity additions/retirements and load growth (electrification, data centers), grounded in published NYISO / NYSERDA CLCPA outlooks.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95144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2920" y="2404872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386584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Realistic operating assumptions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2423160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459736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86584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Round-trip efficiency ~85–90% (not 100%), solar degradation (~0.5%/yr), battery degradation/augmentation cost. Q2b already uses a per-day LP that finds multi-cycle dispatch worth +14.75% under a zero-cost assumption — adding a realistic per-cycle degradation cost would temper that toward an economically optimal cycling frequency.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91256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2920" y="3300984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3282696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Capacity &amp; ancillary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3319272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69080" y="3355848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3282696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Add NYISO capacity market (ICAP) and frequency regulation revenue — often the majority of a merchant battery's revenue stack. Q2d sketches an illustrative reserve add-on; a rigorous version (real product rules, co-optimization, capacity market) is still the single biggest gap.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087368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2920" y="4197096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17880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Scenario / sensitivity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69080" y="4215384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~2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178808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High/low cases on load growth, gas prices, and renewable build-out pace, given how uncertain the 10-year price path 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983480"/>
            <a:ext cx="11201400" cy="9525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2920" y="5093208"/>
            <a:ext cx="457200" cy="4572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50749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Full pro forma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69080" y="5111496"/>
            <a:ext cx="777240" cy="292608"/>
          </a:xfrm>
          <a:prstGeom prst="rect">
            <a:avLst/>
          </a:prstGeom>
          <a:solidFill>
            <a:srgbClr val="FCFC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69080" y="5148072"/>
            <a:ext cx="777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A78D6"/>
                </a:solidFill>
                <a:latin typeface="Calibri"/>
              </a:rPr>
              <a:t>~1 hr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0" y="5074920"/>
            <a:ext cx="6675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Layer in provided capex, O&amp;M, financing, and ITC/IRA tax credit treatment to compute NPV/IRR rather than simple payback.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A78D6"/>
                </a:solidFill>
                <a:latin typeface="Calibri"/>
              </a:rPr>
              <a:t>Q3C  · 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0B0B0B"/>
                </a:solidFill>
                <a:latin typeface="Calibri"/>
              </a:rPr>
              <a:t>Combined Solar + Storage Is the Recommended Installation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07008"/>
            <a:ext cx="914400" cy="381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GCV Solar + Storage Valuation  |  E3 Applicant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898781"/>
                </a:solidFill>
                <a:latin typeface="Calibri"/>
              </a:rPr>
              <a:t>11 / 11</a:t>
            </a:r>
          </a:p>
        </p:txBody>
      </p:sp>
      <p:pic>
        <p:nvPicPr>
          <p:cNvPr id="8" name="Picture 7" descr="q3_payback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29512"/>
            <a:ext cx="7040880" cy="30845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4709160"/>
            <a:ext cx="7040880" cy="45720"/>
          </a:xfrm>
          <a:prstGeom prst="rect">
            <a:avLst/>
          </a:prstGeom>
          <a:solidFill>
            <a:srgbClr val="E1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4846320"/>
            <a:ext cx="7040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898781"/>
                </a:solidFill>
                <a:latin typeface="Calibri"/>
              </a:rPr>
              <a:t>—  Simple payback (capex ÷ 2023 backcast revenue, no financing/tax/O&amp;M): Standalone Solar ~22 yrs, Standalone Storage ~38 yrs, Combined ~21 yrs.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371600"/>
            <a:ext cx="4114800" cy="4892040"/>
          </a:xfrm>
          <a:prstGeom prst="rect">
            <a:avLst/>
          </a:prstGeom>
          <a:solidFill>
            <a:srgbClr val="FCFCFB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544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A78D6"/>
                </a:solidFill>
                <a:latin typeface="Calibri"/>
              </a:rPr>
              <a:t>WHY COMBINED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965960"/>
            <a:ext cx="370332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Closely matches (and slightly beats) standalone solar's payback — storage is effectively added at no economic cost.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Combined package pricing ($1.25/W solar, $350/kWh storage) saves ~$35M in capex vs. building both standalone.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250">
                <a:solidFill>
                  <a:srgbClr val="52514E"/>
                </a:solidFill>
                <a:latin typeface="Calibri"/>
              </a:rPr>
              <a:t>—  Better hedges the Q3a outlook: storage value should rise as solar capture price erodes.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4892040"/>
            <a:ext cx="3703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1">
                <a:solidFill>
                  <a:srgbClr val="898781"/>
                </a:solidFill>
                <a:latin typeface="Calibri"/>
              </a:rPr>
              <a:t>Caveat: standalone storage still looks weak here because only day-ahead energy arbitrage was modeled. Real storage revenue also includes capacity &amp; ancillary services (Q3b) — revisit before committing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